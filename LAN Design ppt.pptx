
<file path=[Content_Types].xml><?xml version="1.0" encoding="utf-8"?>
<Types xmlns="http://schemas.openxmlformats.org/package/2006/content-types">
  <Default Extension="fntdata" ContentType="application/x-fontdata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Figtree" panose="020B0604020202020204" charset="0"/>
      <p:regular r:id="rId22"/>
      <p:bold r:id="rId23"/>
      <p:italic r:id="rId24"/>
      <p:boldItalic r:id="rId25"/>
    </p:embeddedFont>
    <p:embeddedFont>
      <p:font typeface="Inter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7C1861-9835-43BC-B41A-911BFE077D0F}">
  <a:tblStyle styleId="{567C1861-9835-43BC-B41A-911BFE077D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81525"/>
            <a:ext cx="1104900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571500"/>
            <a:ext cx="870108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LAN Design: </a:t>
            </a:r>
            <a:r>
              <a:rPr lang="en-US" sz="5400" b="1" i="0" u="none" strike="noStrike" cap="none" dirty="0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A Simple Case Study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270521"/>
            <a:ext cx="76200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Using Star and Bus Topologies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239250" y="2000250"/>
            <a:ext cx="2381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Benazir Bhutto Shaheed University Liyari, Karachi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791075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Presented by: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162550"/>
            <a:ext cx="5334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Meer Hadeed</a:t>
            </a:r>
            <a:endParaRPr b="1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5467350"/>
            <a:ext cx="5334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Rizwan Ahmed</a:t>
            </a:r>
            <a:endParaRPr b="1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5811339"/>
            <a:ext cx="5334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Muhammad Abdullah Khan</a:t>
            </a:r>
            <a:endParaRPr b="1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6286500" y="4791075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Instructor: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286500" y="5162550"/>
            <a:ext cx="5334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Sir Anwar Ali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Sathio</a:t>
            </a:r>
            <a:endParaRPr b="1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6286500" y="5610225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Course: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286500" y="5981700"/>
            <a:ext cx="5334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Computer Networks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B36E5A-8ED1-40B0-9409-0289010E7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525" y="91402"/>
            <a:ext cx="1962150" cy="1962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240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19240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Figtree"/>
                <a:ea typeface="Figtree"/>
                <a:cs typeface="Figtree"/>
                <a:sym typeface="Figtree"/>
              </a:rPr>
              <a:t>The Scenario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4384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Innovatech Solutions is moving into a new 2-floor office and needs a reliable, cost-effective Local Area Network (LAN).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19125" y="35433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04875" y="3543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Company: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Innovatech Solutions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19125" y="39909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04875" y="39909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Floor 1 (Sales):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10 workstations, 1 network printer.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19125" y="44386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4875" y="44386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Floor 2 (Eng/Admin):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15 workstations, 1 server, 1 printer.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19125" y="51911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04875" y="51911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Design a network that connects all devices efficiently.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2028825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The Challenge: </a:t>
            </a:r>
            <a:r>
              <a:rPr lang="en-US" sz="3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Innovatech's New Office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21812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LAN Topology is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physical or logical arrangement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of nodes (like PCs, printers, and servers) on a network.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29813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defines how devices are connected and how data flows between them. The choice of topology impacts several key factors: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19125" y="40862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04875" y="40862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19125" y="45339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04875" y="4533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19125" y="49815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04875" y="49815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Reliability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19125" y="54292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04875" y="54292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Ease of Troubleshooting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209550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Core Concept: </a:t>
            </a:r>
            <a:r>
              <a:rPr lang="en-US" sz="3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What is a LAN Topology?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811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16811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Figtree"/>
                <a:ea typeface="Figtree"/>
                <a:cs typeface="Figtree"/>
                <a:sym typeface="Figtree"/>
              </a:rPr>
              <a:t>How It Works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21955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devices share a single common cable, often called the "backbone" or "bus." Data is sent to all devices, but only the intended recipient accepts it.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3300412"/>
            <a:ext cx="34423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Pros: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4367212"/>
            <a:ext cx="3811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Cons: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19125" y="34718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04875" y="34718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Simple and low-cost to install.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19125" y="39195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04875" y="39195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Requires less cable than a star.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19125" y="45386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04875" y="45386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Hard to troubleshoot.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19125" y="49863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04875" y="49863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break in the main cable takes down the entire network.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19125" y="57388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04875" y="57388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Performance degrades quickly with high traffic.</a:t>
            </a:r>
            <a:endParaRPr/>
          </a:p>
        </p:txBody>
      </p:sp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1785937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Component 1: </a:t>
            </a:r>
            <a:r>
              <a:rPr lang="en-US" sz="3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The Bus Topology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811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16811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Figtree"/>
                <a:ea typeface="Figtree"/>
                <a:cs typeface="Figtree"/>
                <a:sym typeface="Figtree"/>
              </a:rPr>
              <a:t>How It Works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21955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devices (PCs, printers) are connected to a central device, like 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switch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or a hub. All traffic passes through this central point.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3300412"/>
            <a:ext cx="34423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Pros: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5119687"/>
            <a:ext cx="3811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19125" y="34718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04875" y="34718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Reliable: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single cable failure only affects one device.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19125" y="42243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04875" y="42243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Easy to add or remove new devices.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19125" y="46720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04875" y="46720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Easy to troubleshoot and find faults.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19125" y="52911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04875" y="52911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Requires more cable (higher cost).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19125" y="57388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04875" y="57388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central switch is a single point of failure.</a:t>
            </a:r>
            <a:endParaRPr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1785937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Component 2: </a:t>
            </a:r>
            <a:r>
              <a:rPr lang="en-US" sz="3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The Star Topology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/>
          <p:nvPr/>
        </p:nvSpPr>
        <p:spPr>
          <a:xfrm>
            <a:off x="5619750" y="2617440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2960340"/>
            <a:ext cx="8611076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The "Innovatech" </a:t>
            </a:r>
            <a:r>
              <a:rPr lang="en-US" sz="54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Solution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71500" y="3969990"/>
            <a:ext cx="323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Hybrid Star-Bus Design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571500" y="184308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Figtree"/>
                <a:ea typeface="Figtree"/>
                <a:cs typeface="Figtree"/>
                <a:sym typeface="Figtree"/>
              </a:rPr>
              <a:t>Why a Hybrid?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571500" y="23574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design (also called a "Tree Topology") combines the strengths of both systems for our two-floor office.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19125" y="31575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04875" y="3157537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"Stars":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Each floor operates as its own high-performance Star network, connected to a local switch. This isolates traffic and prevents a single PC failure from stopping work on that floor.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19125" y="45196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04875" y="45196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"Bus":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simple, vertical "backbone" cable acts as a bus, connecting the two floor switches (Switch A and Switch B) together.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19125" y="55768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04875" y="557688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Reliable, easy-to-manage, and scalable.</a:t>
            </a:r>
            <a:endParaRPr/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1947862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Our Design: </a:t>
            </a:r>
            <a:r>
              <a:rPr lang="en-US" sz="3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The Star-Bus Hybrid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652AAB-84C5-40AF-9F41-CBFB7AB99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9774" y="1419225"/>
            <a:ext cx="6315075" cy="4933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/>
          <p:nvPr/>
        </p:nvSpPr>
        <p:spPr>
          <a:xfrm>
            <a:off x="5619750" y="2617440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2960340"/>
            <a:ext cx="986123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Part 2: The IP </a:t>
            </a:r>
            <a:r>
              <a:rPr lang="en-US" sz="54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Addressing Plan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3969990"/>
            <a:ext cx="29908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Organizing the Network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" name="Google Shape;220;p21"/>
          <p:cNvGraphicFramePr/>
          <p:nvPr/>
        </p:nvGraphicFramePr>
        <p:xfrm>
          <a:off x="571500" y="1809750"/>
          <a:ext cx="11049000" cy="4248125"/>
        </p:xfrm>
        <a:graphic>
          <a:graphicData uri="http://schemas.openxmlformats.org/drawingml/2006/table">
            <a:tbl>
              <a:tblPr firstRow="1" bandRow="1">
                <a:noFill/>
                <a:tableStyleId>{567C1861-9835-43BC-B41A-911BFE077D0F}</a:tableStyleId>
              </a:tblPr>
              <a:tblGrid>
                <a:gridCol w="277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B82F6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Device / Group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B82F6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IP Range / Address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B82F6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Notes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Network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192.168.1.0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Subnet Mask: 255.255.255.0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Router (Gateway)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192.168.1.1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IP - Connects to Internet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Server (Floor 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192.168.1.10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IP - For easy access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Printers (Static)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192.168.1.50 (F1), 192.168.1.51 (F2)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IPs - For reliable printing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Floor 1 (Sales)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192.168.1.100 - 192.168.1.110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DHCP Pool (11 IPs)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Floor 2 (Eng/Admin)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192.168.1.150 - 192.168.1.165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DHCP Pool (16 IPs)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1" name="Google Shape;221;p21"/>
          <p:cNvSpPr/>
          <p:nvPr/>
        </p:nvSpPr>
        <p:spPr>
          <a:xfrm>
            <a:off x="571500" y="2338387"/>
            <a:ext cx="2771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3342679" y="2338387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7577435" y="2338387"/>
            <a:ext cx="404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71500" y="2957512"/>
            <a:ext cx="2771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342679" y="2957512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7577435" y="2957512"/>
            <a:ext cx="404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71500" y="3576637"/>
            <a:ext cx="2771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3342679" y="3576637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7577435" y="3576637"/>
            <a:ext cx="404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71500" y="4195762"/>
            <a:ext cx="2771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342679" y="4195762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7577435" y="4195762"/>
            <a:ext cx="404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71500" y="4814887"/>
            <a:ext cx="2771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342679" y="4814887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7577435" y="4814887"/>
            <a:ext cx="404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1500" y="5434012"/>
            <a:ext cx="2771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342679" y="5434012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7577435" y="5434012"/>
            <a:ext cx="404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IP Addressing Plan: </a:t>
            </a:r>
            <a:r>
              <a:rPr lang="en-US" sz="3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192.168.1.0/24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/>
          <p:nvPr/>
        </p:nvSpPr>
        <p:spPr>
          <a:xfrm>
            <a:off x="5619750" y="2617440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571500" y="2960340"/>
            <a:ext cx="10371296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Part 3: Network </a:t>
            </a:r>
            <a:r>
              <a:rPr lang="en-US" sz="54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Security Policy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71500" y="3969990"/>
            <a:ext cx="29146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Protecting the Network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2238375" y="2333625"/>
            <a:ext cx="814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Physical Security: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 servers, switches, and the main router must be in a locked IT closet or server rack.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2238375" y="3133725"/>
            <a:ext cx="814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Device Hardening: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Change all default administrator passwords on the router and switches. Keep all device firmware updated.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2238375" y="3933825"/>
            <a:ext cx="814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Access Control: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Enable the router's firewall to block unwanted traffic. Enforce a strong password policy for all user workstations and the server.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2238375" y="4733925"/>
            <a:ext cx="814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Future-Proofing (Wireless):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When Wi-Fi is added, create a separate, isolated "Guest" network to protect internal resources like the server.</a:t>
            </a:r>
            <a:endParaRPr/>
          </a:p>
        </p:txBody>
      </p:sp>
      <p:pic>
        <p:nvPicPr>
          <p:cNvPr id="258" name="Google Shape;25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38125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18135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8145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781550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Core Security Policies: </a:t>
            </a:r>
            <a:r>
              <a:rPr lang="en-US" sz="3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A 4-Layer Plan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2238375" y="2116931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Reliable Workgroups: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Star topology on each floor ensures that a single PC or cable failure won't stop others from working.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2238375" y="3025378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Simple Backbone: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Bus backbone is a simple, low-cost way to connect the two floors.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2238375" y="3933825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Organized IP Plan: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IP plan prevents conflicts and reserves static IPs for critical devices (servers, printers).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2238375" y="4842271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Secure Foundation: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security policy protects the network through physical, device, and access-level controls.</a:t>
            </a:r>
            <a:endParaRPr/>
          </a:p>
        </p:txBody>
      </p:sp>
      <p:pic>
        <p:nvPicPr>
          <p:cNvPr id="273" name="Google Shape;27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164556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73003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8145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889896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Remarks &amp; </a:t>
            </a:r>
            <a:r>
              <a:rPr lang="en-US" sz="3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Key Takeaways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AF5F-E4EE-4678-996E-D404503930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6BEE8-BB26-43CA-BC25-707C80E06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08CD4-4250-453B-B13F-E4EE44B2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47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/>
          <p:nvPr/>
        </p:nvSpPr>
        <p:spPr>
          <a:xfrm>
            <a:off x="5619750" y="2617440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571500" y="2960340"/>
            <a:ext cx="6910863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Figtree"/>
                <a:ea typeface="Figtree"/>
                <a:cs typeface="Figtree"/>
                <a:sym typeface="Figtree"/>
              </a:rPr>
              <a:t>Designed for </a:t>
            </a:r>
            <a:r>
              <a:rPr lang="en-US" sz="54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Growth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571500" y="3969990"/>
            <a:ext cx="4371975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reliable and scalable foundation.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295275" y="256029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B82F6"/>
                </a:solidFill>
                <a:latin typeface="Figtree"/>
                <a:ea typeface="Figtree"/>
                <a:cs typeface="Figtree"/>
                <a:sym typeface="Figtree"/>
              </a:rPr>
              <a:t>Questions?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571500" y="37032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784</Words>
  <Application>Microsoft Office PowerPoint</Application>
  <PresentationFormat>Widescreen</PresentationFormat>
  <Paragraphs>114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Figtree</vt:lpstr>
      <vt:lpstr>Inter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Meer</cp:lastModifiedBy>
  <cp:revision>2</cp:revision>
  <dcterms:modified xsi:type="dcterms:W3CDTF">2025-11-21T10:24:27Z</dcterms:modified>
</cp:coreProperties>
</file>